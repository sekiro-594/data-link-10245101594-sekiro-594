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4aba7d951441a2" /><Relationship Type="http://schemas.openxmlformats.org/officeDocument/2006/relationships/extended-properties" Target="/docProps/app.xml" Id="R09b2e5809fc049cc" /><Relationship Type="http://schemas.openxmlformats.org/officeDocument/2006/relationships/officeDocument" Target="/ppt/presentation.xml" Id="Rf5cc46e657ff41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17c9733c0b47f3"/>
  </p:sldMasterIdLst>
  <p:notesMasterIdLst>
    <p:notesMasterId xmlns:r="http://schemas.openxmlformats.org/officeDocument/2006/relationships" r:id="R6dc63c4885864b52"/>
  </p:notesMasterIdLst>
  <p:sldIdLst>
    <p:sldId xmlns:r="http://schemas.openxmlformats.org/officeDocument/2006/relationships" id="256" r:id="R4d19971c99054cf4"/>
    <p:sldId xmlns:r="http://schemas.openxmlformats.org/officeDocument/2006/relationships" id="257" r:id="R7a1ee28e671149a4"/>
    <p:sldId xmlns:r="http://schemas.openxmlformats.org/officeDocument/2006/relationships" id="258" r:id="Rb284fcdb871e4fd4"/>
    <p:sldId xmlns:r="http://schemas.openxmlformats.org/officeDocument/2006/relationships" id="259" r:id="R9e3e9193d8f74077"/>
    <p:sldId xmlns:r="http://schemas.openxmlformats.org/officeDocument/2006/relationships" id="260" r:id="Rcd1c0ac6017149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ffa708400c47cf" /><Relationship Type="http://schemas.openxmlformats.org/officeDocument/2006/relationships/slideMaster" Target="/ppt/slideMasters/slideMaster1.xml" Id="Rfb17c9733c0b47f3" /><Relationship Type="http://schemas.openxmlformats.org/officeDocument/2006/relationships/notesMaster" Target="/ppt/notesMasters/notesMaster1.xml" Id="R6dc63c4885864b52" /><Relationship Type="http://schemas.openxmlformats.org/officeDocument/2006/relationships/presProps" Target="/ppt/presProps.xml" Id="R6934c14eefdd4f0c" /><Relationship Type="http://schemas.openxmlformats.org/officeDocument/2006/relationships/tableStyles" Target="/ppt/tableStyles.xml" Id="R341a2501d7304630" /><Relationship Type="http://schemas.openxmlformats.org/officeDocument/2006/relationships/slide" Target="/ppt/slides/slide1.xml" Id="R4d19971c99054cf4" /><Relationship Type="http://schemas.openxmlformats.org/officeDocument/2006/relationships/slide" Target="/ppt/slides/slide2.xml" Id="R7a1ee28e671149a4" /><Relationship Type="http://schemas.openxmlformats.org/officeDocument/2006/relationships/slide" Target="/ppt/slides/slide3.xml" Id="Rb284fcdb871e4fd4" /><Relationship Type="http://schemas.openxmlformats.org/officeDocument/2006/relationships/slide" Target="/ppt/slides/slide4.xml" Id="R9e3e9193d8f74077" /><Relationship Type="http://schemas.openxmlformats.org/officeDocument/2006/relationships/slide" Target="/ppt/slides/slide5.xml" Id="Rcd1c0ac6017149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a882c8544a45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5fc5d35c864c8d" /><Relationship Type="http://schemas.openxmlformats.org/officeDocument/2006/relationships/notesMaster" Target="/ppt/notesMasters/notesMaster1.xml" Id="R76ae9f529ee74a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5df654e1e04a4d" /><Relationship Type="http://schemas.openxmlformats.org/officeDocument/2006/relationships/notesMaster" Target="/ppt/notesMasters/notesMaster1.xml" Id="Ref72da3f376640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62a5eab118426b" /><Relationship Type="http://schemas.openxmlformats.org/officeDocument/2006/relationships/notesMaster" Target="/ppt/notesMasters/notesMaster1.xml" Id="R554385908d8a48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2cd1ec11c34e49" /><Relationship Type="http://schemas.openxmlformats.org/officeDocument/2006/relationships/notesMaster" Target="/ppt/notesMasters/notesMaster1.xml" Id="R8da1cb5476274a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bceb1b87bd4c86" /><Relationship Type="http://schemas.openxmlformats.org/officeDocument/2006/relationships/notesMaster" Target="/ppt/notesMasters/notesMaster1.xml" Id="R40f2f738aad749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数据链软件暑期学校学生实验手册（M1-M6）</a:t>
            </a:r>
          </a:p>
          <a:p xmlns:a="http://schemas.openxmlformats.org/drawingml/2006/main">
            <a:r>
              <a:t>- student_package/output/experiment_summary.json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student_package/src_skeleton/run_all.py</a:t>
            </a:r>
          </a:p>
          <a:p xmlns:a="http://schemas.openxmlformats.org/drawingml/2006/main">
            <a:r>
              <a:t>- student_package/output/experiment_summary.json</a:t>
            </a:r>
          </a:p>
          <a:p xmlns:a="http://schemas.openxmlformats.org/drawingml/2006/main">
            <a:r>
              <a:t>- student_package/docs/M1_system_flow.md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student_package/schema/teaching_message_spec.md</a:t>
            </a:r>
          </a:p>
          <a:p xmlns:a="http://schemas.openxmlformats.org/drawingml/2006/main">
            <a:r>
              <a:t>- student_package/output/roundtrip_report.csv</a:t>
            </a:r>
          </a:p>
          <a:p xmlns:a="http://schemas.openxmlformats.org/drawingml/2006/main">
            <a:r>
              <a:t>- student_package/output/validation_log.csv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student_package/output/decoded_multitime.csv</a:t>
            </a:r>
          </a:p>
          <a:p xmlns:a="http://schemas.openxmlformats.org/drawingml/2006/main">
            <a:r>
              <a:t>- student_package/output/track_table.csv</a:t>
            </a:r>
          </a:p>
          <a:p xmlns:a="http://schemas.openxmlformats.org/drawingml/2006/main">
            <a:r>
              <a:t>- student_package/output/current_situation.csv</a:t>
            </a:r>
          </a:p>
          <a:p xmlns:a="http://schemas.openxmlformats.org/drawingml/2006/main">
            <a:r>
              <a:t>- student_package/output/states.db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student_package/docs/M4_mapping_review.md</a:t>
            </a:r>
          </a:p>
          <a:p xmlns:a="http://schemas.openxmlformats.org/drawingml/2006/main">
            <a:r>
              <a:t>- student_package/output/verified_mapping_table.csv</a:t>
            </a:r>
          </a:p>
          <a:p xmlns:a="http://schemas.openxmlformats.org/drawingml/2006/main">
            <a:r>
              <a:t>- student_package/output/unified_situation.ndjson</a:t>
            </a:r>
          </a:p>
          <a:p xmlns:a="http://schemas.openxmlformats.org/drawingml/2006/main">
            <a:r>
              <a:t>- student_package/output/alert_log.csv</a:t>
            </a:r>
          </a:p>
          <a:p xmlns:a="http://schemas.openxmlformats.org/drawingml/2006/main">
            <a:r>
              <a:t>- student_package/output/quality_situation.csv</a:t>
            </a:r>
          </a:p>
          <a:p xmlns:a="http://schemas.openxmlformats.org/drawingml/2006/main">
            <a:r>
              <a:t>- student_package/docs/M5_result_note.md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5f41c5ff24a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7cf6068c0432a" /><Relationship Type="http://schemas.openxmlformats.org/officeDocument/2006/relationships/slideLayout" Target="/ppt/slideLayouts/slideLayout1.xml" Id="R0350ddf8d5444d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50ddf8d5444d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807d033144f53" /><Relationship Type="http://schemas.openxmlformats.org/officeDocument/2006/relationships/notesSlide" Target="/ppt/notesSlides/notesSlide1.xml" Id="Ra0492194b7e940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12184b40145fc" /><Relationship Type="http://schemas.openxmlformats.org/officeDocument/2006/relationships/notesSlide" Target="/ppt/notesSlides/notesSlide2.xml" Id="R50622bc2034245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40545cb2c437a" /><Relationship Type="http://schemas.openxmlformats.org/officeDocument/2006/relationships/notesSlide" Target="/ppt/notesSlides/notesSlide3.xml" Id="Rccd67c41fa7545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abf1736aa4af2" /><Relationship Type="http://schemas.openxmlformats.org/officeDocument/2006/relationships/notesSlide" Target="/ppt/notesSlides/notesSlide4.xml" Id="Ra34b7d8d39314d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b1344228b43a7" /><Relationship Type="http://schemas.openxmlformats.org/officeDocument/2006/relationships/notesSlide" Target="/ppt/notesSlides/notesSlide5.xml" Id="R620ee927f4864b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B202BE6-3175-468D-8D3F-97A8C747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数据链软件暑期学校 · M1–M6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783BA9F-224E-4A60-BD63-8998C352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82215BF-7963-466F-9E09-C8EDA2D2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TeachingLink 数据链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综合实验成果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2FB2BC5-42BE-4462-9C28-797F2290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从 OpenSky 状态向量到统一态势、航迹与质量检查</a:t>
            </a:r>
          </a:p>
        </p:txBody>
      </p:sp>
      <p:sp>
        <p:nvSpPr>
          <p:cNvPr id="5" name="student">
            <a:extLst xmlns:a="http://schemas.openxmlformats.org/drawingml/2006/main">
              <a:ext uri="{FF2B5EF4-FFF2-40B4-BE49-F238E27FC236}">
                <a16:creationId xmlns:a16="http://schemas.microsoft.com/office/drawing/2014/main" id="{F7A7D708-F06D-4CEE-A529-722F5AD9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学号 10245101594 · GitHub sekiro-594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591789B7-C54A-4DDC-BC19-93D7BDC8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40953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9B0FA249-A70D-4563-98E8-ADC6470E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一个入口完成从状态数据到质量态势的处理链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5276312-DFFA-4EA8-83FA-F828206B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run_all.py 从空 output 目录串联 M2–M5，各阶段结果都能被下一阶段重新读取。</a:t>
            </a:r>
          </a:p>
        </p:txBody>
      </p:sp>
      <p:sp>
        <p:nvSpPr>
          <p:cNvPr id="3" name="timeline">
            <a:extLst xmlns:a="http://schemas.openxmlformats.org/drawingml/2006/main">
              <a:ext uri="{FF2B5EF4-FFF2-40B4-BE49-F238E27FC236}">
                <a16:creationId xmlns:a16="http://schemas.microsoft.com/office/drawing/2014/main" id="{0DFF27F4-29C0-4A66-BDC2-4EA89BC3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node-95">
            <a:extLst xmlns:a="http://schemas.openxmlformats.org/drawingml/2006/main">
              <a:ext uri="{FF2B5EF4-FFF2-40B4-BE49-F238E27FC236}">
                <a16:creationId xmlns:a16="http://schemas.microsoft.com/office/drawing/2014/main" id="{7C0E6ECF-CDFF-4767-8236-CCF32644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node-455">
            <a:extLst xmlns:a="http://schemas.openxmlformats.org/drawingml/2006/main">
              <a:ext uri="{FF2B5EF4-FFF2-40B4-BE49-F238E27FC236}">
                <a16:creationId xmlns:a16="http://schemas.microsoft.com/office/drawing/2014/main" id="{F6E0D1F1-3A46-406F-8EC4-DCD0E386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48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node-815">
            <a:extLst xmlns:a="http://schemas.openxmlformats.org/drawingml/2006/main">
              <a:ext uri="{FF2B5EF4-FFF2-40B4-BE49-F238E27FC236}">
                <a16:creationId xmlns:a16="http://schemas.microsoft.com/office/drawing/2014/main" id="{7D8CB08C-1203-4FC7-95C9-C254DBD5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48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phase-a">
            <a:extLst xmlns:a="http://schemas.openxmlformats.org/drawingml/2006/main">
              <a:ext uri="{FF2B5EF4-FFF2-40B4-BE49-F238E27FC236}">
                <a16:creationId xmlns:a16="http://schemas.microsoft.com/office/drawing/2014/main" id="{F2149602-A637-4BAB-B7E3-192C21F7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 编解码</a:t>
            </a:r>
          </a:p>
        </p:txBody>
      </p:sp>
      <p:sp>
        <p:nvSpPr>
          <p:cNvPr id="8" name="phase-b">
            <a:extLst xmlns:a="http://schemas.openxmlformats.org/drawingml/2006/main">
              <a:ext uri="{FF2B5EF4-FFF2-40B4-BE49-F238E27FC236}">
                <a16:creationId xmlns:a16="http://schemas.microsoft.com/office/drawing/2014/main" id="{6F828A18-50EE-4BFF-9D4B-ED5F7D23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336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 存储与航迹</a:t>
            </a:r>
          </a:p>
        </p:txBody>
      </p:sp>
      <p:sp>
        <p:nvSpPr>
          <p:cNvPr id="9" name="phase-c">
            <a:extLst xmlns:a="http://schemas.openxmlformats.org/drawingml/2006/main">
              <a:ext uri="{FF2B5EF4-FFF2-40B4-BE49-F238E27FC236}">
                <a16:creationId xmlns:a16="http://schemas.microsoft.com/office/drawing/2014/main" id="{064363BE-A54A-4A5C-9C99-74889A5E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336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M4–M5 映射与质量</a:t>
            </a:r>
          </a:p>
        </p:txBody>
      </p:sp>
      <p:sp>
        <p:nvSpPr>
          <p:cNvPr id="10" name="body-a">
            <a:extLst xmlns:a="http://schemas.openxmlformats.org/drawingml/2006/main">
              <a:ext uri="{FF2B5EF4-FFF2-40B4-BE49-F238E27FC236}">
                <a16:creationId xmlns:a16="http://schemas.microsoft.com/office/drawing/2014/main" id="{69915385-6C82-4024-BEA3-A0CE39E3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raw_states.json 输入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 条记录中 3 条可编码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 3 帧 / 123 字节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输出编码与回环报告</a:t>
            </a:r>
          </a:p>
        </p:txBody>
      </p:sp>
      <p:sp>
        <p:nvSpPr>
          <p:cNvPr id="11" name="body-b">
            <a:extLst xmlns:a="http://schemas.openxmlformats.org/drawingml/2006/main">
              <a:ext uri="{FF2B5EF4-FFF2-40B4-BE49-F238E27FC236}">
                <a16:creationId xmlns:a16="http://schemas.microsoft.com/office/drawing/2014/main" id="{B5BA4D1B-8226-4E12-B4EE-3E5F34F3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67125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逐帧校验并解码 3 / 3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多时刻文件解码 9 条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CSV 与 SQLite 同步保存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按目标和时间生成航迹</a:t>
            </a:r>
          </a:p>
        </p:txBody>
      </p:sp>
      <p:sp>
        <p:nvSpPr>
          <p:cNvPr id="12" name="body-c">
            <a:extLst xmlns:a="http://schemas.openxmlformats.org/drawingml/2006/main">
              <a:ext uri="{FF2B5EF4-FFF2-40B4-BE49-F238E27FC236}">
                <a16:creationId xmlns:a16="http://schemas.microsoft.com/office/drawing/2014/main" id="{D3B6B4B5-3D84-4679-8725-9DDA1D83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67125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 条映射规则人工核验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生成统一 NDJSON 6 条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 4 类固定质量规则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输出 5 条告警与质量态势</a:t>
            </a:r>
          </a:p>
        </p:txBody>
      </p:sp>
      <p:sp>
        <p:nvSpPr>
          <p:cNvPr id="13" name="footer-2">
            <a:extLst xmlns:a="http://schemas.openxmlformats.org/drawingml/2006/main">
              <a:ext uri="{FF2B5EF4-FFF2-40B4-BE49-F238E27FC236}">
                <a16:creationId xmlns:a16="http://schemas.microsoft.com/office/drawing/2014/main" id="{AFF9B6F5-2EE1-4AB7-A5B6-B35EBB4F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0321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9A27D2D-A648-4255-813D-7D4663AB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 帧全部通过 41 字节编解码与回环检查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DEC196A8-FF64-490E-885B-D1C6E04A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结果：编码 123 字节，接收 3 / 3；18 个字段回环误差合格，2 条非法输入写入验证日志。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1809750"/>
                <a:gridCol w="4429125"/>
                <a:gridCol w="3962400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字节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编码规则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实现与接收检查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0–7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帧头与序号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 / v1 / type1 / len41 / seq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magic、版本、类型、长度逐项检查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8–14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uint32 + uint24，保留前导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非零、范围与目标号编码检查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15–22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呼号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1–8 字节 ASCII，NUL 补齐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bit6 有效位与占位保持一致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23–36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位置与运动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经纬度 </a:t>
                      </a:r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uint22</a:t>
                      </a:r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；高度、速度、航向定点化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有效位、范围、保留位与量化误差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37–40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状态与校验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status / validity / checksum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 39 字节求和 mod 65536，错误帧拒绝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53424A1C-95C1-43E6-8726-2C2FCC96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3548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217E19BC-002C-4C45-ACAA-2521359E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9 条记录形成 3 条航迹，并同步保存到 SQLite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5F13403-598F-48BA-8660-7D0C48AA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多时刻解码结果依次生成航迹表和当前态势表，同时写入 states.db，文件与数据库记录数一致。</a:t>
            </a:r>
          </a:p>
        </p:txBody>
      </p:sp>
      <p:sp>
        <p:nvSpPr>
          <p:cNvPr id="3" name="card-0">
            <a:extLst xmlns:a="http://schemas.openxmlformats.org/drawingml/2006/main">
              <a:ext uri="{FF2B5EF4-FFF2-40B4-BE49-F238E27FC236}">
                <a16:creationId xmlns:a16="http://schemas.microsoft.com/office/drawing/2014/main" id="{9CD72F4D-E2CD-4A96-A399-30E943E2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35718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44F74E03-C52B-4158-8612-50B7CC80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head-0">
            <a:extLst xmlns:a="http://schemas.openxmlformats.org/drawingml/2006/main">
              <a:ext uri="{FF2B5EF4-FFF2-40B4-BE49-F238E27FC236}">
                <a16:creationId xmlns:a16="http://schemas.microsoft.com/office/drawing/2014/main" id="{ACF83A62-25A6-40C4-A518-9E399C77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解码记录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9756F5D1-D0B0-4675-8BAC-5AA2F967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369 字节 = 9×41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帧校验 9 / 9；数据库 9 行</a:t>
            </a:r>
          </a:p>
        </p:txBody>
      </p:sp>
      <p:sp>
        <p:nvSpPr>
          <p:cNvPr id="7" name="card-1">
            <a:extLst xmlns:a="http://schemas.openxmlformats.org/drawingml/2006/main">
              <a:ext uri="{FF2B5EF4-FFF2-40B4-BE49-F238E27FC236}">
                <a16:creationId xmlns:a16="http://schemas.microsoft.com/office/drawing/2014/main" id="{E006EB67-3183-4DED-B617-2E51CD55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19400"/>
            <a:ext cx="35718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9F20C0A1-5385-48AB-B546-099836F8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670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head-1">
            <a:extLst xmlns:a="http://schemas.openxmlformats.org/drawingml/2006/main">
              <a:ext uri="{FF2B5EF4-FFF2-40B4-BE49-F238E27FC236}">
                <a16:creationId xmlns:a16="http://schemas.microsoft.com/office/drawing/2014/main" id="{5E9F67F2-1D00-4FB6-86A3-A63E3F0E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2432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目标航迹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30E3757B-826E-4D82-B26C-88EE82D9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863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3 个目标 × 3 个时刻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按时间排序，序号 1–3 连续</a:t>
            </a:r>
          </a:p>
        </p:txBody>
      </p:sp>
      <p:sp>
        <p:nvSpPr>
          <p:cNvPr id="11" name="card-2">
            <a:extLst xmlns:a="http://schemas.openxmlformats.org/drawingml/2006/main">
              <a:ext uri="{FF2B5EF4-FFF2-40B4-BE49-F238E27FC236}">
                <a16:creationId xmlns:a16="http://schemas.microsoft.com/office/drawing/2014/main" id="{4346C25A-8CB6-45EE-8539-4683AEBC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35718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num-2">
            <a:extLst xmlns:a="http://schemas.openxmlformats.org/drawingml/2006/main">
              <a:ext uri="{FF2B5EF4-FFF2-40B4-BE49-F238E27FC236}">
                <a16:creationId xmlns:a16="http://schemas.microsoft.com/office/drawing/2014/main" id="{1B450F6D-9A38-4109-8FE5-F400D01D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head-2">
            <a:extLst xmlns:a="http://schemas.openxmlformats.org/drawingml/2006/main">
              <a:ext uri="{FF2B5EF4-FFF2-40B4-BE49-F238E27FC236}">
                <a16:creationId xmlns:a16="http://schemas.microsoft.com/office/drawing/2014/main" id="{2712D438-D2A8-45C3-96CF-CBCBF87B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2432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当前态势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2168A34D-993C-4694-A312-63072AC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863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每目标保留最新记录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输出 3 行，缺失值继续保留</a:t>
            </a:r>
          </a:p>
        </p:txBody>
      </p:sp>
      <p:sp>
        <p:nvSpPr>
          <p:cNvPr id="15" name="footer-4">
            <a:extLst xmlns:a="http://schemas.openxmlformats.org/drawingml/2006/main">
              <a:ext uri="{FF2B5EF4-FFF2-40B4-BE49-F238E27FC236}">
                <a16:creationId xmlns:a16="http://schemas.microsoft.com/office/drawing/2014/main" id="{1151CBF7-FC06-4390-ADA4-74EB36F3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629809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F90BAE09-19B5-4AEA-BC58-61C0F52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 条映射规则核验后，4 类检查识别 5 条异常</a:t>
            </a:r>
          </a:p>
        </p:txBody>
      </p:sp>
      <p:sp>
        <p:nvSpPr>
          <p:cNvPr id="2" name="mapping-head">
            <a:extLst xmlns:a="http://schemas.openxmlformats.org/drawingml/2006/main">
              <a:ext uri="{FF2B5EF4-FFF2-40B4-BE49-F238E27FC236}">
                <a16:creationId xmlns:a16="http://schemas.microsoft.com/office/drawing/2014/main" id="{3A152D18-9D3D-4FEE-B5DC-95CB5A8F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人工核验后的映射（25 条）</a:t>
            </a:r>
          </a:p>
        </p:txBody>
      </p:sp>
      <p:sp>
        <p:nvSpPr>
          <p:cNvPr id="3" name="mapping-body">
            <a:extLst xmlns:a="http://schemas.openxmlformats.org/drawingml/2006/main">
              <a:ext uri="{FF2B5EF4-FFF2-40B4-BE49-F238E27FC236}">
                <a16:creationId xmlns:a16="http://schemas.microsoft.com/office/drawing/2014/main" id="{ABDAFDB8-9407-4665-85ED-2E1796F1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191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纠正纬度码、经度码的统一字段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高度按 altitude_code − 1000 还原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有效位为 0 时统一字段写 null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时间回退保留为 time_source 信息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message_valid 只表示帧检查通过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核验后生成 6 条统一 NDJSON</a:t>
            </a:r>
          </a:p>
        </p:txBody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2147B2F3-46D6-4510-8301-764CB992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47800"/>
            <a:ext cx="190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quality-head">
            <a:extLst xmlns:a="http://schemas.openxmlformats.org/drawingml/2006/main">
              <a:ext uri="{FF2B5EF4-FFF2-40B4-BE49-F238E27FC236}">
                <a16:creationId xmlns:a16="http://schemas.microsoft.com/office/drawing/2014/main" id="{781D10CB-F7B5-4625-A8AE-683FB31F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 类固定规则，共 5 条告警</a:t>
            </a:r>
          </a:p>
        </p:txBody>
      </p:sp>
      <p:sp>
        <p:nvSpPr>
          <p:cNvPr id="6" name="check-0">
            <a:extLst xmlns:a="http://schemas.openxmlformats.org/drawingml/2006/main">
              <a:ext uri="{FF2B5EF4-FFF2-40B4-BE49-F238E27FC236}">
                <a16:creationId xmlns:a16="http://schemas.microsoft.com/office/drawing/2014/main" id="{B3E24215-8127-416D-BD77-094E467A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label-0">
            <a:extLst xmlns:a="http://schemas.openxmlformats.org/drawingml/2006/main">
              <a:ext uri="{FF2B5EF4-FFF2-40B4-BE49-F238E27FC236}">
                <a16:creationId xmlns:a16="http://schemas.microsoft.com/office/drawing/2014/main" id="{2AA68F8A-1E81-4BD1-91E0-62E99268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告警等级</a:t>
            </a:r>
          </a:p>
        </p:txBody>
      </p:sp>
      <p:sp>
        <p:nvSpPr>
          <p:cNvPr id="8" name="value-0">
            <a:extLst xmlns:a="http://schemas.openxmlformats.org/drawingml/2006/main">
              <a:ext uri="{FF2B5EF4-FFF2-40B4-BE49-F238E27FC236}">
                <a16:creationId xmlns:a16="http://schemas.microsoft.com/office/drawing/2014/main" id="{E3EC4D24-0076-4A14-8D0F-571B7048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050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 HIGH · 4 MEDIUM</a:t>
            </a:r>
          </a:p>
        </p:txBody>
      </p:sp>
      <p:sp>
        <p:nvSpPr>
          <p:cNvPr id="9" name="check-1">
            <a:extLst xmlns:a="http://schemas.openxmlformats.org/drawingml/2006/main">
              <a:ext uri="{FF2B5EF4-FFF2-40B4-BE49-F238E27FC236}">
                <a16:creationId xmlns:a16="http://schemas.microsoft.com/office/drawing/2014/main" id="{15ABC34E-DEF9-4B04-8E97-93A79BDD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label-1">
            <a:extLst xmlns:a="http://schemas.openxmlformats.org/drawingml/2006/main">
              <a:ext uri="{FF2B5EF4-FFF2-40B4-BE49-F238E27FC236}">
                <a16:creationId xmlns:a16="http://schemas.microsoft.com/office/drawing/2014/main" id="{372D9DDB-77FA-480B-880B-1D36CEBD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位置缺失</a:t>
            </a:r>
          </a:p>
        </p:txBody>
      </p:sp>
      <p:sp>
        <p:nvSpPr>
          <p:cNvPr id="11" name="value-1">
            <a:extLst xmlns:a="http://schemas.openxmlformats.org/drawingml/2006/main">
              <a:ext uri="{FF2B5EF4-FFF2-40B4-BE49-F238E27FC236}">
                <a16:creationId xmlns:a16="http://schemas.microsoft.com/office/drawing/2014/main" id="{B3E47B98-9226-4B54-A5E2-E46B6458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908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 条 → ERROR</a:t>
            </a:r>
          </a:p>
        </p:txBody>
      </p:sp>
      <p:sp>
        <p:nvSpPr>
          <p:cNvPr id="12" name="check-2">
            <a:extLst xmlns:a="http://schemas.openxmlformats.org/drawingml/2006/main">
              <a:ext uri="{FF2B5EF4-FFF2-40B4-BE49-F238E27FC236}">
                <a16:creationId xmlns:a16="http://schemas.microsoft.com/office/drawing/2014/main" id="{5721D3E8-7241-4F77-B10C-8F1B5202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A7B84D6C-31A7-4664-8A23-CB67EE36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数据延迟</a:t>
            </a:r>
          </a:p>
        </p:txBody>
      </p:sp>
      <p:sp>
        <p:nvSpPr>
          <p:cNvPr id="14" name="value-2">
            <a:extLst xmlns:a="http://schemas.openxmlformats.org/drawingml/2006/main">
              <a:ext uri="{FF2B5EF4-FFF2-40B4-BE49-F238E27FC236}">
                <a16:creationId xmlns:a16="http://schemas.microsoft.com/office/drawing/2014/main" id="{ED91C7B9-6036-419A-8746-6FAD0C17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766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 条，阈值 &gt; 60 秒</a:t>
            </a:r>
          </a:p>
        </p:txBody>
      </p:sp>
      <p:sp>
        <p:nvSpPr>
          <p:cNvPr id="15" name="check-3">
            <a:extLst xmlns:a="http://schemas.openxmlformats.org/drawingml/2006/main">
              <a:ext uri="{FF2B5EF4-FFF2-40B4-BE49-F238E27FC236}">
                <a16:creationId xmlns:a16="http://schemas.microsoft.com/office/drawing/2014/main" id="{BE315FA8-BCF7-4EA2-BE34-C8DAFFA9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label-3">
            <a:extLst xmlns:a="http://schemas.openxmlformats.org/drawingml/2006/main">
              <a:ext uri="{FF2B5EF4-FFF2-40B4-BE49-F238E27FC236}">
                <a16:creationId xmlns:a16="http://schemas.microsoft.com/office/drawing/2014/main" id="{29F2755F-7E44-4B4C-89CE-5F76FEBA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联合键重复</a:t>
            </a:r>
          </a:p>
        </p:txBody>
      </p:sp>
      <p:sp>
        <p:nvSpPr>
          <p:cNvPr id="17" name="value-3">
            <a:extLst xmlns:a="http://schemas.openxmlformats.org/drawingml/2006/main">
              <a:ext uri="{FF2B5EF4-FFF2-40B4-BE49-F238E27FC236}">
                <a16:creationId xmlns:a16="http://schemas.microsoft.com/office/drawing/2014/main" id="{8C27C254-811A-4DA4-A24B-CDAB67B2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624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2 条，同目标同时间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B75A6EFD-900C-4C5F-A0A5-48A5C50B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label-4">
            <a:extLst xmlns:a="http://schemas.openxmlformats.org/drawingml/2006/main">
              <a:ext uri="{FF2B5EF4-FFF2-40B4-BE49-F238E27FC236}">
                <a16:creationId xmlns:a16="http://schemas.microsoft.com/office/drawing/2014/main" id="{4CFE77B9-3447-4D82-9474-A732C5CE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482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航向越界</a:t>
            </a:r>
          </a:p>
        </p:txBody>
      </p:sp>
      <p:sp>
        <p:nvSpPr>
          <p:cNvPr id="20" name="value-4">
            <a:extLst xmlns:a="http://schemas.openxmlformats.org/drawingml/2006/main">
              <a:ext uri="{FF2B5EF4-FFF2-40B4-BE49-F238E27FC236}">
                <a16:creationId xmlns:a16="http://schemas.microsoft.com/office/drawing/2014/main" id="{7C7E099C-73F2-4C3C-91C6-A7A95010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482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 条，360° 越界</a:t>
            </a:r>
          </a:p>
        </p:txBody>
      </p:sp>
      <p:sp>
        <p:nvSpPr>
          <p:cNvPr id="21" name="close">
            <a:extLst xmlns:a="http://schemas.openxmlformats.org/drawingml/2006/main">
              <a:ext uri="{FF2B5EF4-FFF2-40B4-BE49-F238E27FC236}">
                <a16:creationId xmlns:a16="http://schemas.microsoft.com/office/drawing/2014/main" id="{2699E6EF-328C-42BF-828F-410A3445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结论：空 output 可重复生成全部结果；当前为离线单源，后续可增加实时输入和航迹可视化。</a:t>
            </a:r>
          </a:p>
        </p:txBody>
      </p:sp>
      <p:sp>
        <p:nvSpPr>
          <p:cNvPr id="22" name="footer-5">
            <a:extLst xmlns:a="http://schemas.openxmlformats.org/drawingml/2006/main">
              <a:ext uri="{FF2B5EF4-FFF2-40B4-BE49-F238E27FC236}">
                <a16:creationId xmlns:a16="http://schemas.microsoft.com/office/drawing/2014/main" id="{06651E90-65A0-41D1-8C47-3E2748D0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95698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2026-08-27T16:00:14.2280000Z</dcterms:created>
  <dcterms:modified xsi:type="dcterms:W3CDTF">2026-08-27T16:00:14.2280000Z</dcterms:modified>
</coreProperties>
</file>